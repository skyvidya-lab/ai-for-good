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3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6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58" y="67"/>
      </p:cViewPr>
      <p:guideLst>
        <p:guide orient="horz" pos="1620"/>
        <p:guide pos="28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">
  <p:cSld name="Generated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b="1">
                <a:solidFill>
                  <a:srgbClr val="1A73E8"/>
                </a:solidFill>
              </a:rPr>
              <a:t>Application Design and Implementation Plan in a Space-based Computing Environment</a:t>
            </a:r>
            <a:endParaRPr b="1">
              <a:solidFill>
                <a:srgbClr val="1A73E8"/>
              </a:solidFill>
            </a:endParaRPr>
          </a:p>
        </p:txBody>
      </p:sp>
      <p:sp>
        <p:nvSpPr>
          <p:cNvPr id="56" name="Google Shape;56;p1"/>
          <p:cNvSpPr txBox="1">
            <a:spLocks noGrp="1"/>
          </p:cNvSpPr>
          <p:nvPr>
            <p:ph type="body" idx="1"/>
          </p:nvPr>
        </p:nvSpPr>
        <p:spPr>
          <a:xfrm>
            <a:off x="311700" y="1626250"/>
            <a:ext cx="8520600" cy="29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rgbClr val="3C40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rgbClr val="3C40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 dirty="0">
                <a:solidFill>
                  <a:srgbClr val="3C4043"/>
                </a:solidFill>
              </a:rPr>
              <a:t>Team Name</a:t>
            </a:r>
            <a:endParaRPr sz="1400" dirty="0">
              <a:solidFill>
                <a:srgbClr val="3C404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GB" sz="1400" dirty="0">
                <a:solidFill>
                  <a:srgbClr val="3C4043"/>
                </a:solidFill>
              </a:rPr>
              <a:t>Contact Email</a:t>
            </a:r>
            <a:endParaRPr sz="1400" dirty="0">
              <a:solidFill>
                <a:srgbClr val="3C40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 dirty="0">
                <a:solidFill>
                  <a:srgbClr val="3C4043"/>
                </a:solidFill>
              </a:rPr>
              <a:t>Track</a:t>
            </a:r>
            <a:endParaRPr sz="1400" dirty="0">
              <a:solidFill>
                <a:srgbClr val="3C40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rgbClr val="3C40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 dirty="0">
              <a:solidFill>
                <a:srgbClr val="3C40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400" dirty="0">
              <a:solidFill>
                <a:srgbClr val="3C40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altLang="zh-CN" b="1" dirty="0">
                <a:solidFill>
                  <a:srgbClr val="1A73E8"/>
                </a:solidFill>
              </a:rPr>
              <a:t>Part I</a:t>
            </a:r>
            <a:r>
              <a:rPr lang="en-GB" b="1" dirty="0">
                <a:solidFill>
                  <a:srgbClr val="1A73E8"/>
                </a:solidFill>
              </a:rPr>
              <a:t>: Overall Task Implementation Architecture</a:t>
            </a:r>
            <a:endParaRPr b="1" dirty="0">
              <a:solidFill>
                <a:srgbClr val="1A73E8"/>
              </a:solidFill>
            </a:endParaRPr>
          </a:p>
        </p:txBody>
      </p:sp>
      <p:sp>
        <p:nvSpPr>
          <p:cNvPr id="62" name="Google Shape;62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CN" sz="1400" b="1" dirty="0"/>
              <a:t>Full-pipeline logic</a:t>
            </a:r>
            <a:r>
              <a:rPr lang="en-US" altLang="zh-CN" sz="1400" dirty="0"/>
              <a:t> covering data ingestion, distributed caching, on-orbit real-time preprocessing, multi-task parallel computing, result encapsulation, and downlink mechanisms.</a:t>
            </a:r>
            <a:endParaRPr lang="en-US" altLang="zh-CN" sz="1400" dirty="0"/>
          </a:p>
          <a:p>
            <a:r>
              <a:rPr lang="en-US" altLang="zh-CN" sz="1400" b="1" dirty="0"/>
              <a:t>Technical roadmap core logic</a:t>
            </a:r>
            <a:r>
              <a:rPr lang="en-US" altLang="zh-CN" sz="1400" dirty="0"/>
              <a:t>: modular design, heterogeneous computing resource scheduling, and fault-tolerant processing to ensure robustness in resource-constrained space environments.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altLang="zh-CN" b="1">
                <a:solidFill>
                  <a:srgbClr val="1A73E8"/>
                </a:solidFill>
              </a:rPr>
              <a:t>Part II</a:t>
            </a:r>
            <a:r>
              <a:rPr lang="en-GB" b="1">
                <a:solidFill>
                  <a:srgbClr val="1A73E8"/>
                </a:solidFill>
              </a:rPr>
              <a:t>: On-Orbit Implementation Feasibility</a:t>
            </a:r>
            <a:endParaRPr b="1">
              <a:solidFill>
                <a:srgbClr val="1A73E8"/>
              </a:solidFill>
            </a:endParaRPr>
          </a:p>
        </p:txBody>
      </p:sp>
      <p:sp>
        <p:nvSpPr>
          <p:cNvPr id="68" name="Google Shape;68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CN" sz="1400" b="1" dirty="0"/>
              <a:t>Uplink file size</a:t>
            </a:r>
            <a:r>
              <a:rPr lang="en-US" altLang="zh-CN" sz="1400" dirty="0"/>
              <a:t> and compression strategies to minimize bandwidth usage.</a:t>
            </a:r>
            <a:endParaRPr lang="en-US" altLang="zh-CN" sz="1400" dirty="0"/>
          </a:p>
          <a:p>
            <a:r>
              <a:rPr lang="en-US" altLang="zh-CN" sz="1400" b="1" dirty="0"/>
              <a:t>Runtime resource consumption</a:t>
            </a:r>
            <a:r>
              <a:rPr lang="en-US" altLang="zh-CN" sz="1400" dirty="0"/>
              <a:t>: CPU/GPU utilization, memory footprint, and storage requirements.</a:t>
            </a:r>
            <a:endParaRPr lang="en-US" altLang="zh-CN" sz="1400" dirty="0"/>
          </a:p>
          <a:p>
            <a:r>
              <a:rPr lang="en-US" altLang="zh-CN" sz="1400" b="1" dirty="0"/>
              <a:t>Dependent data sources</a:t>
            </a:r>
            <a:r>
              <a:rPr lang="en-US" altLang="zh-CN" sz="1400" dirty="0"/>
              <a:t>: preloaded reference data, external satellite feeds, and real-time uplink dependencies.</a:t>
            </a:r>
            <a:endParaRPr lang="en-US" altLang="zh-CN" sz="1400" dirty="0"/>
          </a:p>
          <a:p>
            <a:r>
              <a:rPr lang="en-US" altLang="zh-CN" sz="1400" b="1" dirty="0"/>
              <a:t>Execution time per single run</a:t>
            </a:r>
            <a:r>
              <a:rPr lang="en-US" altLang="zh-CN" sz="1400" dirty="0"/>
              <a:t>: latency analysis from data ingestion to result generation, including worst-case scenario estimates.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altLang="zh-CN" b="1">
                <a:solidFill>
                  <a:srgbClr val="1A73E8"/>
                </a:solidFill>
              </a:rPr>
              <a:t>Part III</a:t>
            </a:r>
            <a:r>
              <a:rPr lang="en-GB" b="1">
                <a:solidFill>
                  <a:srgbClr val="1A73E8"/>
                </a:solidFill>
              </a:rPr>
              <a:t>: Innovativeness of the Implementation Path</a:t>
            </a:r>
            <a:endParaRPr b="1">
              <a:solidFill>
                <a:srgbClr val="1A73E8"/>
              </a:solidFill>
            </a:endParaRPr>
          </a:p>
        </p:txBody>
      </p:sp>
      <p:sp>
        <p:nvSpPr>
          <p:cNvPr id="74" name="Google Shape;74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CN" sz="1400" b="1" dirty="0"/>
              <a:t>Key technical innovations</a:t>
            </a:r>
            <a:r>
              <a:rPr lang="en-US" altLang="zh-CN" sz="1400" dirty="0"/>
              <a:t>: adaptive model compression, lightweight inference engines, and distributed computing tailored for space-grade hardware.</a:t>
            </a:r>
            <a:endParaRPr lang="en-US" altLang="zh-CN" sz="1400" dirty="0"/>
          </a:p>
          <a:p>
            <a:r>
              <a:rPr lang="en-US" altLang="zh-CN" sz="1400" b="1" dirty="0"/>
              <a:t>Differentiation from ground-based solutions</a:t>
            </a:r>
            <a:r>
              <a:rPr lang="en-US" altLang="zh-CN" sz="1400" dirty="0"/>
              <a:t>: how the proposed approach addresses unique constraints such as limited power, radiation tolerance, and autonomous operation.</a:t>
            </a:r>
            <a:endParaRPr lang="en-US" altLang="zh-CN" sz="1400" dirty="0"/>
          </a:p>
          <a:p>
            <a:r>
              <a:rPr lang="en-US" altLang="zh-CN" sz="1400" b="1" dirty="0"/>
              <a:t>Scalability and reusability</a:t>
            </a:r>
            <a:r>
              <a:rPr lang="en-US" altLang="zh-CN" sz="1400" dirty="0"/>
              <a:t>: modular design enabling rapid adaptation to new payloads or mission types.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>
            <a:spLocks noGrp="1"/>
          </p:cNvSpPr>
          <p:nvPr>
            <p:ph type="title"/>
          </p:nvPr>
        </p:nvSpPr>
        <p:spPr>
          <a:xfrm>
            <a:off x="173155" y="288275"/>
            <a:ext cx="897084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CN" b="1" dirty="0">
                <a:solidFill>
                  <a:srgbClr val="1A73E8"/>
                </a:solidFill>
              </a:rPr>
              <a:t>Part IV</a:t>
            </a:r>
            <a:r>
              <a:rPr lang="en-GB" b="1" dirty="0">
                <a:solidFill>
                  <a:srgbClr val="1A73E8"/>
                </a:solidFill>
              </a:rPr>
              <a:t>: </a:t>
            </a:r>
            <a:r>
              <a:rPr lang="en-US" altLang="zh-CN" b="1" dirty="0">
                <a:solidFill>
                  <a:srgbClr val="1A73E8"/>
                </a:solidFill>
              </a:rPr>
              <a:t> Value and Application Scenarios</a:t>
            </a:r>
            <a:br>
              <a:rPr lang="en-US" altLang="zh-CN" b="1" dirty="0"/>
            </a:br>
            <a:endParaRPr b="1" dirty="0">
              <a:solidFill>
                <a:srgbClr val="1A73E8"/>
              </a:solidFill>
            </a:endParaRPr>
          </a:p>
        </p:txBody>
      </p:sp>
      <p:sp>
        <p:nvSpPr>
          <p:cNvPr id="74" name="Google Shape;74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CN" sz="1600" b="1" dirty="0"/>
              <a:t>Value translation pathways</a:t>
            </a:r>
            <a:r>
              <a:rPr lang="en-US" altLang="zh-CN" sz="1600" dirty="0"/>
              <a:t>: clear mechanisms to convert technology into tangible impact, addressing both commercial returns and societal benefits</a:t>
            </a:r>
            <a:endParaRPr lang="en-US" altLang="zh-CN" sz="1600" dirty="0"/>
          </a:p>
          <a:p>
            <a:r>
              <a:rPr lang="en-US" altLang="zh-CN" sz="1600" b="1" dirty="0" err="1"/>
              <a:t>Extented</a:t>
            </a:r>
            <a:r>
              <a:rPr lang="en-US" altLang="zh-CN" sz="1600" b="1" dirty="0"/>
              <a:t> application </a:t>
            </a:r>
            <a:r>
              <a:rPr lang="en-US" altLang="zh-CN" sz="1600" b="1" dirty="0" err="1"/>
              <a:t>scenarios</a:t>
            </a:r>
            <a:r>
              <a:rPr lang="en-US" altLang="zh-CN" sz="1600" dirty="0" err="1"/>
              <a:t>:</a:t>
            </a:r>
            <a:r>
              <a:rPr lang="en-US" altLang="zh-CN" sz="1400" dirty="0" err="1"/>
              <a:t>Integrate</a:t>
            </a:r>
            <a:r>
              <a:rPr lang="en-US" altLang="zh-CN" sz="1400" dirty="0"/>
              <a:t> each scenario deeply with actual production and life, and clarify the extended application mode of space-ground collaboration.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>
                <a:solidFill>
                  <a:srgbClr val="1A73E8"/>
                </a:solidFill>
              </a:rPr>
              <a:t>Part </a:t>
            </a:r>
            <a:r>
              <a:rPr lang="en-US" altLang="en-GB" b="1" dirty="0">
                <a:solidFill>
                  <a:srgbClr val="1A73E8"/>
                </a:solidFill>
              </a:rPr>
              <a:t>V</a:t>
            </a:r>
            <a:r>
              <a:rPr lang="en-US" altLang="zh-CN" b="1" dirty="0"/>
              <a:t> </a:t>
            </a:r>
            <a:r>
              <a:rPr lang="en-US" altLang="zh-CN" b="1" dirty="0">
                <a:solidFill>
                  <a:srgbClr val="1A73E8"/>
                </a:solidFill>
              </a:rPr>
              <a:t>Future Planning</a:t>
            </a:r>
            <a:br>
              <a:rPr lang="en-US" altLang="zh-CN" b="1" dirty="0"/>
            </a:br>
            <a:br>
              <a:rPr lang="en-US" altLang="zh-CN" dirty="0"/>
            </a:br>
            <a:endParaRPr b="1" dirty="0">
              <a:solidFill>
                <a:srgbClr val="1A73E8"/>
              </a:solidFill>
            </a:endParaRPr>
          </a:p>
        </p:txBody>
      </p:sp>
      <p:sp>
        <p:nvSpPr>
          <p:cNvPr id="74" name="Google Shape;74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CN" dirty="0"/>
              <a:t>Describe the application prospects, technical improvement paths and key points of on-orbit computing in this field.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>
                <a:solidFill>
                  <a:srgbClr val="1A73E8"/>
                </a:solidFill>
              </a:rPr>
              <a:t>Part </a:t>
            </a:r>
            <a:r>
              <a:rPr lang="en-US" altLang="en-GB" b="1" dirty="0">
                <a:solidFill>
                  <a:srgbClr val="1A73E8"/>
                </a:solidFill>
              </a:rPr>
              <a:t>VI</a:t>
            </a:r>
            <a:r>
              <a:rPr lang="en-US" altLang="zh-CN" b="1" dirty="0"/>
              <a:t>  </a:t>
            </a:r>
            <a:r>
              <a:rPr lang="en-US" altLang="zh-CN" b="1" dirty="0">
                <a:solidFill>
                  <a:srgbClr val="1A73E8"/>
                </a:solidFill>
              </a:rPr>
              <a:t>Team Introduction</a:t>
            </a:r>
            <a:br>
              <a:rPr lang="en-US" altLang="zh-CN" b="1" dirty="0"/>
            </a:br>
            <a:br>
              <a:rPr lang="en-US" altLang="zh-CN" b="1" dirty="0"/>
            </a:br>
            <a:br>
              <a:rPr lang="en-US" altLang="zh-CN" dirty="0"/>
            </a:br>
            <a:endParaRPr b="1" dirty="0">
              <a:solidFill>
                <a:srgbClr val="1A73E8"/>
              </a:solidFill>
            </a:endParaRPr>
          </a:p>
        </p:txBody>
      </p:sp>
      <p:sp>
        <p:nvSpPr>
          <p:cNvPr id="74" name="Google Shape;74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CN" dirty="0"/>
              <a:t>.</a:t>
            </a:r>
            <a:endParaRPr lang="en-US" altLang="zh-CN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77091" y="1306195"/>
          <a:ext cx="8555758" cy="1828800"/>
        </p:xfrm>
        <a:graphic>
          <a:graphicData uri="http://schemas.openxmlformats.org/drawingml/2006/table">
            <a:tbl>
              <a:tblPr/>
              <a:tblGrid>
                <a:gridCol w="1978330"/>
                <a:gridCol w="2192476"/>
                <a:gridCol w="2192476"/>
                <a:gridCol w="2192476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Name</a:t>
                      </a:r>
                      <a:endParaRPr lang="en-US" b="1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Role</a:t>
                      </a:r>
                      <a:endParaRPr lang="en-US" b="1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Responsibilities</a:t>
                      </a:r>
                      <a:endParaRPr lang="en-US" b="1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Expertise</a:t>
                      </a:r>
                      <a:endParaRPr lang="en-US" b="1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[Name]</a:t>
                      </a:r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Team Lead</a:t>
                      </a:r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[Name]</a:t>
                      </a:r>
                      <a:endParaRPr lang="en-US" b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Tutor</a:t>
                      </a:r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-</a:t>
                      </a:r>
                      <a:r>
                        <a:rPr lang="en-US" altLang="zh-CN" b="0" dirty="0">
                          <a:effectLst/>
                          <a:latin typeface="Calibri" panose="020F0502020204030204" charset="0"/>
                          <a:cs typeface="Calibri" panose="020F0502020204030204" charset="0"/>
                        </a:rPr>
                        <a:t>————</a:t>
                      </a:r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effectLst/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2025</Words>
  <Application>WPS 演示</Application>
  <PresentationFormat>全屏显示(16:9)</PresentationFormat>
  <Paragraphs>59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Arial</vt:lpstr>
      <vt:lpstr>quote-cjk-patch</vt:lpstr>
      <vt:lpstr>Segoe Print</vt:lpstr>
      <vt:lpstr>微软雅黑</vt:lpstr>
      <vt:lpstr>Arial Unicode MS</vt:lpstr>
      <vt:lpstr>quote-cjk-patch</vt:lpstr>
      <vt:lpstr>Times New Roman</vt:lpstr>
      <vt:lpstr>Calibri</vt:lpstr>
      <vt:lpstr>Simple Light</vt:lpstr>
      <vt:lpstr>Application Design and Implementation Plan in a Space-based Computing Environment</vt:lpstr>
      <vt:lpstr>Part 1: Overall Task Implementation Architecture</vt:lpstr>
      <vt:lpstr>Part 2: On-Orbit Implementation Feasibility</vt:lpstr>
      <vt:lpstr>Part 3: Innovativeness of the Implementation Path</vt:lpstr>
      <vt:lpstr>Part 4:  Value and Application Scenarios </vt:lpstr>
      <vt:lpstr>Part 5 Future Planning  </vt:lpstr>
      <vt:lpstr>Part 6  Team Introduction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Design and Implementation Plan in a Space-based Computing Environment</dc:title>
  <dc:creator>ZJ</dc:creator>
  <cp:lastModifiedBy>L木南</cp:lastModifiedBy>
  <cp:revision>10</cp:revision>
  <dcterms:created xsi:type="dcterms:W3CDTF">2026-03-19T08:47:00Z</dcterms:created>
  <dcterms:modified xsi:type="dcterms:W3CDTF">2026-04-02T12:02:16Z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E606CD0DB29F4EC594C4CBA5588E88A8_12</vt:lpwstr>
  </property>
</Properties>
</file>